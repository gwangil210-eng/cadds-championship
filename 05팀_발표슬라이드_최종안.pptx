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92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40000" y="0"/>
            <a:ext cx="3552119" cy="792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94800" y="288000"/>
            <a:ext cx="1620000" cy="1620000"/>
          </a:xfrm>
          <a:prstGeom prst="rect">
            <a:avLst/>
          </a:prstGeom>
          <a:noFill/>
          <a:ln w="25400">
            <a:solidFill>
              <a:srgbClr val="1D7B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94800" y="432000"/>
            <a:ext cx="162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 i="0">
                <a:solidFill>
                  <a:srgbClr val="1D7B7B"/>
                </a:solidFill>
                <a:latin typeface="Segoe UI Symbol"/>
              </a:rPr>
              <a:t>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0" y="2015999"/>
            <a:ext cx="61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D7B7B"/>
                </a:solidFill>
                <a:latin typeface="맑은 고딕"/>
              </a:rPr>
              <a:t>KDT AI 전문가 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0000" y="2340000"/>
            <a:ext cx="936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1A2B4A"/>
                </a:solidFill>
                <a:latin typeface="맑은 고딕"/>
              </a:rPr>
              <a:t>걷기 실천율과 만성질환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0000" y="2916000"/>
            <a:ext cx="936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1D7B7B"/>
                </a:solidFill>
                <a:latin typeface="맑은 고딕"/>
              </a:rPr>
              <a:t>상관관계 분석 모델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0000" y="3671999"/>
            <a:ext cx="93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8899"/>
                </a:solidFill>
                <a:latin typeface="맑은 고딕"/>
              </a:rPr>
              <a:t>전국 229개 시군구 건강 데이터 기반 다층 통계 분석 보고서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0" y="4104000"/>
            <a:ext cx="900000" cy="270000"/>
          </a:xfrm>
          <a:prstGeom prst="rect">
            <a:avLst/>
          </a:prstGeom>
          <a:solidFill>
            <a:srgbClr val="1A2B4A"/>
          </a:solidFill>
          <a:ln w="381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6000" y="4111200"/>
            <a:ext cx="827999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Project Team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8000" y="4104000"/>
            <a:ext cx="900000" cy="270000"/>
          </a:xfrm>
          <a:prstGeom prst="rect">
            <a:avLst/>
          </a:prstGeom>
          <a:solidFill>
            <a:srgbClr val="F2F2F7"/>
          </a:solidFill>
          <a:ln w="381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84000" y="4111200"/>
            <a:ext cx="827999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1E32"/>
                </a:solidFill>
                <a:latin typeface="맑은 고딕"/>
              </a:rPr>
              <a:t>송광일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6000" y="4104000"/>
            <a:ext cx="900000" cy="270000"/>
          </a:xfrm>
          <a:prstGeom prst="rect">
            <a:avLst/>
          </a:prstGeom>
          <a:solidFill>
            <a:srgbClr val="F2F2F7"/>
          </a:solidFill>
          <a:ln w="381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2000" y="4111200"/>
            <a:ext cx="827999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1E32"/>
                </a:solidFill>
                <a:latin typeface="맑은 고딕"/>
              </a:rPr>
              <a:t>김정범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3999" y="4104000"/>
            <a:ext cx="900000" cy="270000"/>
          </a:xfrm>
          <a:prstGeom prst="rect">
            <a:avLst/>
          </a:prstGeom>
          <a:solidFill>
            <a:srgbClr val="F2F2F7"/>
          </a:solidFill>
          <a:ln w="381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99999" y="4111200"/>
            <a:ext cx="827999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1E32"/>
                </a:solidFill>
                <a:latin typeface="맑은 고딕"/>
              </a:rPr>
              <a:t>박수빈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72000" y="4104000"/>
            <a:ext cx="900000" cy="270000"/>
          </a:xfrm>
          <a:prstGeom prst="rect">
            <a:avLst/>
          </a:prstGeom>
          <a:solidFill>
            <a:srgbClr val="F2F2F7"/>
          </a:solidFill>
          <a:ln w="381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8000" y="4111200"/>
            <a:ext cx="827999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1E32"/>
                </a:solidFill>
                <a:latin typeface="맑은 고딕"/>
              </a:rPr>
              <a:t>조정연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000" y="6083999"/>
            <a:ext cx="11232000" cy="10800"/>
          </a:xfrm>
          <a:prstGeom prst="rect">
            <a:avLst/>
          </a:prstGeom>
          <a:solidFill>
            <a:srgbClr val="F2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20000" y="6120000"/>
            <a:ext cx="30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맑은 고딕"/>
              </a:rPr>
              <a:t>분석 대상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0000" y="6318000"/>
            <a:ext cx="30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1E32"/>
                </a:solidFill>
                <a:latin typeface="맑은 고딕"/>
              </a:rPr>
              <a:t>전국 229개 시군구 패널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24000" y="6120000"/>
            <a:ext cx="30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맑은 고딕"/>
              </a:rPr>
              <a:t>핵심 방법론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24000" y="6318000"/>
            <a:ext cx="30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1E32"/>
                </a:solidFill>
                <a:latin typeface="맑은 고딕"/>
              </a:rPr>
              <a:t>다층 통계 &amp; 머신러닝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28000" y="6120000"/>
            <a:ext cx="30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맑은 고딕"/>
              </a:rPr>
              <a:t>연구 목표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000" y="6318000"/>
            <a:ext cx="30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1E32"/>
                </a:solidFill>
                <a:latin typeface="맑은 고딕"/>
              </a:rPr>
              <a:t>데이터 기반 보건 정책 제안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32000" y="6552000"/>
            <a:ext cx="86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99"/>
                </a:solidFill>
                <a:latin typeface="맑은 고딕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360000" cy="612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60000" y="0"/>
            <a:ext cx="2832119" cy="612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8000" y="288000"/>
            <a:ext cx="79200" cy="2592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000" y="2736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1A2B4A"/>
                </a:solidFill>
                <a:latin typeface="맑은 고딕"/>
              </a:rPr>
              <a:t>연구 배경 및 추진 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666000"/>
            <a:ext cx="1123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32"/>
                </a:solidFill>
                <a:latin typeface="맑은 고딕"/>
              </a:rPr>
              <a:t>From Local to National:  국소적인 표본의 한계를 극복하고 전국 단위로 분석 범위를 확장합니다.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8000" y="1080000"/>
            <a:ext cx="5400000" cy="54000"/>
          </a:xfrm>
          <a:prstGeom prst="rect">
            <a:avLst/>
          </a:prstGeom>
          <a:solidFill>
            <a:srgbClr val="85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8000" y="1134000"/>
            <a:ext cx="5400000" cy="2034000"/>
          </a:xfrm>
          <a:prstGeom prst="rect">
            <a:avLst/>
          </a:prstGeom>
          <a:noFill/>
          <a:ln w="63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8800" y="1188000"/>
            <a:ext cx="525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99"/>
                </a:solidFill>
                <a:latin typeface="맑은 고딕"/>
              </a:rPr>
              <a:t>AS-IS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800" y="1339200"/>
            <a:ext cx="5256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1E32"/>
                </a:solidFill>
                <a:latin typeface="맑은 고딕"/>
              </a:rPr>
              <a:t>기존 연구의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8800" y="1591200"/>
            <a:ext cx="5256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1E32"/>
                </a:solidFill>
                <a:latin typeface="맑은 고딕"/>
              </a:rPr>
              <a:t>기존 대전광역시 단위(n = 30)의 인프라 중심 분석은 표본 부족으로 인해 통계적 유의성 확보가 불가능한 한계가 존재했습니다.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0000" y="1080000"/>
            <a:ext cx="5400000" cy="54000"/>
          </a:xfrm>
          <a:prstGeom prst="rect">
            <a:avLst/>
          </a:prstGeom>
          <a:solidFill>
            <a:srgbClr val="1A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0000" y="1134000"/>
            <a:ext cx="5400000" cy="2034000"/>
          </a:xfrm>
          <a:prstGeom prst="rect">
            <a:avLst/>
          </a:prstGeom>
          <a:noFill/>
          <a:ln w="63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188000"/>
            <a:ext cx="525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99"/>
                </a:solidFill>
                <a:latin typeface="맑은 고딕"/>
              </a:rPr>
              <a:t>TO-BE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339200"/>
            <a:ext cx="5256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1E32"/>
                </a:solidFill>
                <a:latin typeface="맑은 고딕"/>
              </a:rPr>
              <a:t>분석 범위 전국 확장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591200"/>
            <a:ext cx="5256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1E32"/>
                </a:solidFill>
                <a:latin typeface="맑은 고딕"/>
              </a:rPr>
              <a:t>통계적 신뢰도 확보를 위해 전국 229개 시군구 패널 데이터로 조사 대상을 전수 확장하였습니다.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3420000"/>
            <a:ext cx="5400000" cy="540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8000" y="3474000"/>
            <a:ext cx="5400000" cy="2034000"/>
          </a:xfrm>
          <a:prstGeom prst="rect">
            <a:avLst/>
          </a:prstGeom>
          <a:noFill/>
          <a:ln w="63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8800" y="3528000"/>
            <a:ext cx="525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99"/>
                </a:solidFill>
                <a:latin typeface="맑은 고딕"/>
              </a:rPr>
              <a:t>FOCUS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8800" y="3679200"/>
            <a:ext cx="5256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1E32"/>
                </a:solidFill>
                <a:latin typeface="맑은 고딕"/>
              </a:rPr>
              <a:t>주제 고도화 (행태 중심)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8800" y="3931200"/>
            <a:ext cx="5256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1E32"/>
                </a:solidFill>
                <a:latin typeface="맑은 고딕"/>
              </a:rPr>
              <a:t>물리적 '인프라' 관점에서 벗어나, 시민들의 실제 '건강 행태(걷기 실천율)'와 질환 지표 간의 직접적 상관관계를 규명합니다.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0000" y="3420000"/>
            <a:ext cx="5400000" cy="54000"/>
          </a:xfrm>
          <a:prstGeom prst="rect">
            <a:avLst/>
          </a:prstGeom>
          <a:solidFill>
            <a:srgbClr val="A06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00000" y="3474000"/>
            <a:ext cx="5400000" cy="2034000"/>
          </a:xfrm>
          <a:prstGeom prst="rect">
            <a:avLst/>
          </a:prstGeom>
          <a:noFill/>
          <a:ln w="63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528000"/>
            <a:ext cx="525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99"/>
                </a:solidFill>
                <a:latin typeface="맑은 고딕"/>
              </a:rPr>
              <a:t>METHOD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679200"/>
            <a:ext cx="5256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1E32"/>
                </a:solidFill>
                <a:latin typeface="맑은 고딕"/>
              </a:rPr>
              <a:t>정밀 상관 모델 구축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931200"/>
            <a:ext cx="5256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1E32"/>
                </a:solidFill>
                <a:latin typeface="맑은 고딕"/>
              </a:rPr>
              <a:t>지역별 고유 환경 특성이 통제된 다층적 데이터 구조를 반영하여, 데이터 기반의 명확한 의사결정 모델을 제안합니다.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32000" y="6552000"/>
            <a:ext cx="86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99"/>
                </a:solidFill>
                <a:latin typeface="맑은 고딕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360000" cy="612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60000" y="0"/>
            <a:ext cx="2832119" cy="612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8000" y="288000"/>
            <a:ext cx="79200" cy="2592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000" y="2736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1A2B4A"/>
                </a:solidFill>
                <a:latin typeface="맑은 고딕"/>
              </a:rPr>
              <a:t>목차  /  Table of 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68000" y="900000"/>
            <a:ext cx="360000" cy="2160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8000" y="918000"/>
            <a:ext cx="3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1999" y="9000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B4A"/>
                </a:solidFill>
                <a:latin typeface="맑은 고딕"/>
              </a:rPr>
              <a:t>표지 및 연구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1999" y="1116000"/>
            <a:ext cx="504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맑은 고딕"/>
              </a:rPr>
              <a:t>걷기 실천율과 만성질환 상관관계 분석 모델 소개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000" y="1692000"/>
            <a:ext cx="360000" cy="2160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000" y="1710000"/>
            <a:ext cx="3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999" y="16920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B4A"/>
                </a:solidFill>
                <a:latin typeface="맑은 고딕"/>
              </a:rPr>
              <a:t>연구 배경 및 추진 전략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1999" y="1908000"/>
            <a:ext cx="504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맑은 고딕"/>
              </a:rPr>
              <a:t>From Local to National — 분석 범위 전국 확장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8000" y="2484000"/>
            <a:ext cx="360000" cy="2160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000" y="2502000"/>
            <a:ext cx="3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1999" y="24840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B4A"/>
                </a:solidFill>
                <a:latin typeface="맑은 고딕"/>
              </a:rPr>
              <a:t>분석 데이터 개요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1999" y="2700000"/>
            <a:ext cx="504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맑은 고딕"/>
              </a:rPr>
              <a:t>질병관리청 지역사회건강조사(2008-2025) 기반 변수 정의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" y="3276000"/>
            <a:ext cx="360000" cy="2160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000" y="3294000"/>
            <a:ext cx="3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1999" y="32760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B4A"/>
                </a:solidFill>
                <a:latin typeface="맑은 고딕"/>
              </a:rPr>
              <a:t>분석 아키텍처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1999" y="3492000"/>
            <a:ext cx="504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맑은 고딕"/>
              </a:rPr>
              <a:t>R 생태계 기반 4단계 파이프라인 구조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000" y="4068000"/>
            <a:ext cx="360000" cy="2160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000" y="4086000"/>
            <a:ext cx="3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1999" y="40680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B4A"/>
                </a:solidFill>
                <a:latin typeface="맑은 고딕"/>
              </a:rPr>
              <a:t>데이터 전처리 파이프라인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1999" y="4284000"/>
            <a:ext cx="504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맑은 고딕"/>
              </a:rPr>
              <a:t>숫자형 변환 → 결측치 제거 → 공간 결합 → 정합성 검증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8000" y="4860000"/>
            <a:ext cx="360000" cy="2160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000" y="4878000"/>
            <a:ext cx="3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1999" y="48600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B4A"/>
                </a:solidFill>
                <a:latin typeface="맑은 고딕"/>
              </a:rPr>
              <a:t>10대 건강 지표 상관관계 히트맵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1999" y="5076000"/>
            <a:ext cx="504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맑은 고딕"/>
              </a:rPr>
              <a:t>걷기율↔비만율 r=−0.52, 비만율↔고혈압 r=0.64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000" y="5652000"/>
            <a:ext cx="360000" cy="2160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8000" y="5670000"/>
            <a:ext cx="3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1999" y="56520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B4A"/>
                </a:solidFill>
                <a:latin typeface="맑은 고딕"/>
              </a:rPr>
              <a:t>다중 회귀 분석: 비만율 영향 요인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1999" y="5868000"/>
            <a:ext cx="504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맑은 고딕"/>
              </a:rPr>
              <a:t>생활습관 변수 통제 후 독립적 영향력 산출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0000" y="900000"/>
            <a:ext cx="360000" cy="2160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0000" y="918000"/>
            <a:ext cx="3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13999" y="9000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B4A"/>
                </a:solidFill>
                <a:latin typeface="맑은 고딕"/>
              </a:rPr>
              <a:t>만성질환 영향 분석 (간접 경로 규명)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13999" y="1116000"/>
            <a:ext cx="504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맑은 고딕"/>
              </a:rPr>
              <a:t>걷기 → 비만 감소 → 만성질환 감소 메커니즘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0000" y="1692000"/>
            <a:ext cx="360000" cy="2160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0000" y="1710000"/>
            <a:ext cx="3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13999" y="16920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B4A"/>
                </a:solidFill>
                <a:latin typeface="맑은 고딕"/>
              </a:rPr>
              <a:t>K-Means 군집 분석 (K=3)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13999" y="1908000"/>
            <a:ext cx="504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맑은 고딕"/>
              </a:rPr>
              <a:t>건강 위험군 / 중간군 / 양호군 지역 분류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000" y="2484000"/>
            <a:ext cx="360000" cy="2160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0000" y="2502000"/>
            <a:ext cx="3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13999" y="24840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B4A"/>
                </a:solidFill>
                <a:latin typeface="맑은 고딕"/>
              </a:rPr>
              <a:t>머신러닝 비만 예측 변수 중요도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13999" y="2700000"/>
            <a:ext cx="504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맑은 고딕"/>
              </a:rPr>
              <a:t>Random Forest 변수 기여도 분석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0000" y="3276000"/>
            <a:ext cx="360000" cy="2160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00000" y="3294000"/>
            <a:ext cx="3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12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13999" y="32760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B4A"/>
                </a:solidFill>
                <a:latin typeface="맑은 고딕"/>
              </a:rPr>
              <a:t>패널 회귀 분석 (Fixed Effects)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13999" y="3492000"/>
            <a:ext cx="504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맑은 고딕"/>
              </a:rPr>
              <a:t>지역 고유 특성 통제 후 걷기율 인과 효과 입증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00000" y="4068000"/>
            <a:ext cx="360000" cy="2160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00000" y="4086000"/>
            <a:ext cx="3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13999" y="40680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B4A"/>
                </a:solidFill>
                <a:latin typeface="맑은 고딕"/>
              </a:rPr>
              <a:t>정책 시뮬레이션 (2026-2030 예측)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13999" y="4284000"/>
            <a:ext cx="504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맑은 고딕"/>
              </a:rPr>
              <a:t>걷기율 +1~5%p 시 비만율 3.5%p 억제 효과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00000" y="4860000"/>
            <a:ext cx="360000" cy="2160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00000" y="4878000"/>
            <a:ext cx="3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13999" y="48600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B4A"/>
                </a:solidFill>
                <a:latin typeface="맑은 고딕"/>
              </a:rPr>
              <a:t>4대 건강지표 통합 미래 트렌드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13999" y="5076000"/>
            <a:ext cx="504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맑은 고딕"/>
              </a:rPr>
              <a:t>2030년 비만·당뇨·고혈압 거시적 변화 전망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0000" y="5652000"/>
            <a:ext cx="360000" cy="2160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00000" y="5670000"/>
            <a:ext cx="3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13999" y="56520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B4A"/>
                </a:solidFill>
                <a:latin typeface="맑은 고딕"/>
              </a:rPr>
              <a:t>최종 분석 결론 및 정책 제언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13999" y="5868000"/>
            <a:ext cx="504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  <a:latin typeface="맑은 고딕"/>
              </a:rPr>
              <a:t>유의성 검증, 경로 규명, 지역 격차, 복합 정책 제안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232000" y="6552000"/>
            <a:ext cx="86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99"/>
                </a:solidFill>
                <a:latin typeface="맑은 고딕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360000" cy="612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60000" y="0"/>
            <a:ext cx="2832119" cy="612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8000" y="288000"/>
            <a:ext cx="79200" cy="2592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000" y="2736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1A2B4A"/>
                </a:solidFill>
                <a:latin typeface="맑은 고딕"/>
              </a:rPr>
              <a:t>분석 데이터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666000"/>
            <a:ext cx="1123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32"/>
                </a:solidFill>
                <a:latin typeface="맑은 고딕"/>
              </a:rPr>
              <a:t>질병관리청 지역사회건강조사(2008-2025) 기반  전국 229개 시군구, 17개년 10대 건강행태 변수 통합</a:t>
            </a:r>
          </a:p>
        </p:txBody>
      </p:sp>
      <p:sp>
        <p:nvSpPr>
          <p:cNvPr id="7" name="Rectangle 6"/>
          <p:cNvSpPr/>
          <p:nvPr/>
        </p:nvSpPr>
        <p:spPr>
          <a:xfrm>
            <a:off x="468000" y="1026000"/>
            <a:ext cx="2700000" cy="576000"/>
          </a:xfrm>
          <a:prstGeom prst="rect">
            <a:avLst/>
          </a:prstGeom>
          <a:solidFill>
            <a:srgbClr val="E4EFEF"/>
          </a:solidFill>
          <a:ln w="508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8000" y="1151999"/>
            <a:ext cx="259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168000" y="1026000"/>
            <a:ext cx="2520000" cy="576000"/>
          </a:xfrm>
          <a:prstGeom prst="rect">
            <a:avLst/>
          </a:prstGeom>
          <a:solidFill>
            <a:srgbClr val="E4EFEF"/>
          </a:solidFill>
          <a:ln w="508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58000" y="1151999"/>
            <a:ext cx="24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맑은 고딕"/>
              </a:rPr>
              <a:t>변수명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88000" y="1026000"/>
            <a:ext cx="6300000" cy="576000"/>
          </a:xfrm>
          <a:prstGeom prst="rect">
            <a:avLst/>
          </a:prstGeom>
          <a:solidFill>
            <a:srgbClr val="E4EFEF"/>
          </a:solidFill>
          <a:ln w="508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78000" y="1151999"/>
            <a:ext cx="619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맑은 고딕"/>
              </a:rPr>
              <a:t>산출 설명 (지표 기준)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000" y="1602000"/>
            <a:ext cx="2700000" cy="576000"/>
          </a:xfrm>
          <a:prstGeom prst="rect">
            <a:avLst/>
          </a:prstGeom>
          <a:solidFill>
            <a:srgbClr val="FAFAFF"/>
          </a:solidFill>
          <a:ln w="508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8000" y="1727999"/>
            <a:ext cx="259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B4A"/>
                </a:solidFill>
                <a:latin typeface="맑은 고딕"/>
              </a:rPr>
              <a:t>독립 변수 (행태)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68000" y="1602000"/>
            <a:ext cx="2520000" cy="576000"/>
          </a:xfrm>
          <a:prstGeom prst="rect">
            <a:avLst/>
          </a:prstGeom>
          <a:solidFill>
            <a:srgbClr val="FAFAFF"/>
          </a:solidFill>
          <a:ln w="508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58000" y="1727999"/>
            <a:ext cx="24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32"/>
                </a:solidFill>
                <a:latin typeface="맑은 고딕"/>
              </a:rPr>
              <a:t>걷기_실천율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8000" y="1602000"/>
            <a:ext cx="6300000" cy="576000"/>
          </a:xfrm>
          <a:prstGeom prst="rect">
            <a:avLst/>
          </a:prstGeom>
          <a:solidFill>
            <a:srgbClr val="FAFAFF"/>
          </a:solidFill>
          <a:ln w="508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78000" y="1727999"/>
            <a:ext cx="619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32"/>
                </a:solidFill>
                <a:latin typeface="맑은 고딕"/>
              </a:rPr>
              <a:t>최근 1주일간 1일 30분 이상 걷기를 주 5일 이상 실천한 비율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8000" y="2178000"/>
            <a:ext cx="2700000" cy="5760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8000" y="2303999"/>
            <a:ext cx="259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B4A"/>
                </a:solidFill>
                <a:latin typeface="맑은 고딕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3168000" y="2178000"/>
            <a:ext cx="2520000" cy="5760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58000" y="2303999"/>
            <a:ext cx="24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32"/>
                </a:solidFill>
                <a:latin typeface="맑은 고딕"/>
              </a:rPr>
              <a:t>비만율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88000" y="2178000"/>
            <a:ext cx="6300000" cy="5760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78000" y="2303999"/>
            <a:ext cx="619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32"/>
                </a:solidFill>
                <a:latin typeface="맑은 고딕"/>
              </a:rPr>
              <a:t>체질량지수(BMI) 25 이상인 사람의 비율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8000" y="2754000"/>
            <a:ext cx="2700000" cy="576000"/>
          </a:xfrm>
          <a:prstGeom prst="rect">
            <a:avLst/>
          </a:prstGeom>
          <a:solidFill>
            <a:srgbClr val="FAFAFF"/>
          </a:solidFill>
          <a:ln w="508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8000" y="2879999"/>
            <a:ext cx="259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B4A"/>
                </a:solidFill>
                <a:latin typeface="맑은 고딕"/>
              </a:rPr>
              <a:t>종속 변수 (결과)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68000" y="2754000"/>
            <a:ext cx="2520000" cy="576000"/>
          </a:xfrm>
          <a:prstGeom prst="rect">
            <a:avLst/>
          </a:prstGeom>
          <a:solidFill>
            <a:srgbClr val="FAFAFF"/>
          </a:solidFill>
          <a:ln w="508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58000" y="2879999"/>
            <a:ext cx="24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32"/>
                </a:solidFill>
                <a:latin typeface="맑은 고딕"/>
              </a:rPr>
              <a:t>고혈압_진단율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88000" y="2754000"/>
            <a:ext cx="6300000" cy="576000"/>
          </a:xfrm>
          <a:prstGeom prst="rect">
            <a:avLst/>
          </a:prstGeom>
          <a:solidFill>
            <a:srgbClr val="FAFAFF"/>
          </a:solidFill>
          <a:ln w="508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78000" y="2879999"/>
            <a:ext cx="619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32"/>
                </a:solidFill>
                <a:latin typeface="맑은 고딕"/>
              </a:rPr>
              <a:t>의사로부터 고혈압 진단을 받은 적이 있는 사람의 비율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8000" y="3330000"/>
            <a:ext cx="2700000" cy="5760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8000" y="3455999"/>
            <a:ext cx="259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B4A"/>
                </a:solidFill>
                <a:latin typeface="맑은 고딕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0" y="3330000"/>
            <a:ext cx="2520000" cy="5760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58000" y="3455999"/>
            <a:ext cx="24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32"/>
                </a:solidFill>
                <a:latin typeface="맑은 고딕"/>
              </a:rPr>
              <a:t>당뇨_진단율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88000" y="3330000"/>
            <a:ext cx="6300000" cy="5760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78000" y="3455999"/>
            <a:ext cx="619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32"/>
                </a:solidFill>
                <a:latin typeface="맑은 고딕"/>
              </a:rPr>
              <a:t>의사로부터 당뇨 진단을 받은 적이 있는 사람의 비율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8000" y="3906000"/>
            <a:ext cx="2700000" cy="576000"/>
          </a:xfrm>
          <a:prstGeom prst="rect">
            <a:avLst/>
          </a:prstGeom>
          <a:solidFill>
            <a:srgbClr val="FAFAFF"/>
          </a:solidFill>
          <a:ln w="508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8000" y="4031999"/>
            <a:ext cx="259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B4A"/>
                </a:solidFill>
                <a:latin typeface="맑은 고딕"/>
              </a:rPr>
              <a:t>통제 변수 (위험)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0" y="3906000"/>
            <a:ext cx="2520000" cy="576000"/>
          </a:xfrm>
          <a:prstGeom prst="rect">
            <a:avLst/>
          </a:prstGeom>
          <a:solidFill>
            <a:srgbClr val="FAFAFF"/>
          </a:solidFill>
          <a:ln w="508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58000" y="4031999"/>
            <a:ext cx="24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32"/>
                </a:solidFill>
                <a:latin typeface="맑은 고딕"/>
              </a:rPr>
              <a:t>흡연/음주/스트레스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88000" y="3906000"/>
            <a:ext cx="6300000" cy="576000"/>
          </a:xfrm>
          <a:prstGeom prst="rect">
            <a:avLst/>
          </a:prstGeom>
          <a:solidFill>
            <a:srgbClr val="FAFAFF"/>
          </a:solidFill>
          <a:ln w="508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78000" y="4031999"/>
            <a:ext cx="619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32"/>
                </a:solidFill>
                <a:latin typeface="맑은 고딕"/>
              </a:rPr>
              <a:t>현재 흡연자 비율, 고위험 음주 행태 비율, 스트레스 인지 수준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8000" y="4482000"/>
            <a:ext cx="2700000" cy="5760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8000" y="4607999"/>
            <a:ext cx="259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2B4A"/>
                </a:solidFill>
                <a:latin typeface="맑은 고딕"/>
              </a:rPr>
              <a:t>공간 변수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0" y="4482000"/>
            <a:ext cx="2520000" cy="5760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58000" y="4607999"/>
            <a:ext cx="241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32"/>
                </a:solidFill>
                <a:latin typeface="맑은 고딕"/>
              </a:rPr>
              <a:t>SHP (Shapefile)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88000" y="4482000"/>
            <a:ext cx="6300000" cy="5760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78000" y="4607999"/>
            <a:ext cx="619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32"/>
                </a:solidFill>
                <a:latin typeface="맑은 고딕"/>
              </a:rPr>
              <a:t>전국 시군구 단위 행정구역 공간 데이터 결합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32000" y="6552000"/>
            <a:ext cx="86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99"/>
                </a:solidFill>
                <a:latin typeface="맑은 고딕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360000" cy="612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60000" y="0"/>
            <a:ext cx="2832119" cy="612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8000" y="288000"/>
            <a:ext cx="79200" cy="2592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000" y="2736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1A2B4A"/>
                </a:solidFill>
                <a:latin typeface="맑은 고딕"/>
              </a:rPr>
              <a:t>분석 아키텍처 (4단계 파이프라인)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666000"/>
            <a:ext cx="1123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32"/>
                </a:solidFill>
                <a:latin typeface="맑은 고딕"/>
              </a:rPr>
              <a:t>데이터 수집부터 정책 해석까지 R 생태계 기반 단일 파이프라인으로 연결하여 정합성을 확보했습니다.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8000" y="1620000"/>
            <a:ext cx="2700000" cy="720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48000" y="1800000"/>
            <a:ext cx="540000" cy="540000"/>
          </a:xfrm>
          <a:prstGeom prst="rect">
            <a:avLst/>
          </a:prstGeom>
          <a:solidFill>
            <a:srgbClr val="EEF6F6"/>
          </a:solidFill>
          <a:ln w="12700">
            <a:solidFill>
              <a:srgbClr val="1D7B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48000" y="1836000"/>
            <a:ext cx="54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D7B7B"/>
                </a:solidFill>
                <a:latin typeface="맑은 고딕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000" y="2447999"/>
            <a:ext cx="270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1E32"/>
                </a:solidFill>
                <a:latin typeface="맑은 고딕"/>
              </a:rPr>
              <a:t>1. 데이터 수집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2736000"/>
            <a:ext cx="27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D7B7B"/>
                </a:solidFill>
                <a:latin typeface="Consolas"/>
              </a:rPr>
              <a:t>readr, sf 패키지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0" y="2970000"/>
            <a:ext cx="2556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E1E32"/>
                </a:solidFill>
                <a:latin typeface="맑은 고딕"/>
              </a:rPr>
              <a:t>17개년 건강조사 CSV 및 행정구역 SHP 공간 데이터 통합 로드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48000" y="1620000"/>
            <a:ext cx="2700000" cy="72000"/>
          </a:xfrm>
          <a:prstGeom prst="rect">
            <a:avLst/>
          </a:prstGeom>
          <a:solidFill>
            <a:srgbClr val="85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28000" y="1800000"/>
            <a:ext cx="540000" cy="540000"/>
          </a:xfrm>
          <a:prstGeom prst="rect">
            <a:avLst/>
          </a:prstGeom>
          <a:solidFill>
            <a:srgbClr val="EEF6F6"/>
          </a:solidFill>
          <a:ln w="12700">
            <a:solidFill>
              <a:srgbClr val="851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8000" y="1836000"/>
            <a:ext cx="54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851A20"/>
                </a:solidFill>
                <a:latin typeface="맑은 고딕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8000" y="2447999"/>
            <a:ext cx="270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1E32"/>
                </a:solidFill>
                <a:latin typeface="맑은 고딕"/>
              </a:rPr>
              <a:t>2. 데이터 전처리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48000" y="2736000"/>
            <a:ext cx="27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51A20"/>
                </a:solidFill>
                <a:latin typeface="Consolas"/>
              </a:rPr>
              <a:t>dplyr, tidyr 패키지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0000" y="2970000"/>
            <a:ext cx="2556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E1E32"/>
                </a:solidFill>
                <a:latin typeface="맑은 고딕"/>
              </a:rPr>
              <a:t>결측치 및 변수 정제, 공간/속성 데이터 JoinKey 기반 병합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8000" y="1620000"/>
            <a:ext cx="2700000" cy="72000"/>
          </a:xfrm>
          <a:prstGeom prst="rect">
            <a:avLst/>
          </a:prstGeom>
          <a:solidFill>
            <a:srgbClr val="1A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08000" y="1800000"/>
            <a:ext cx="540000" cy="540000"/>
          </a:xfrm>
          <a:prstGeom prst="rect">
            <a:avLst/>
          </a:prstGeom>
          <a:solidFill>
            <a:srgbClr val="EEF6F6"/>
          </a:solidFill>
          <a:ln w="12700">
            <a:solidFill>
              <a:srgbClr val="1A4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08000" y="1836000"/>
            <a:ext cx="54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4080"/>
                </a:solidFill>
                <a:latin typeface="맑은 고딕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8000" y="2447999"/>
            <a:ext cx="270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1E32"/>
                </a:solidFill>
                <a:latin typeface="맑은 고딕"/>
              </a:rPr>
              <a:t>3. 분석 엔진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8000" y="2736000"/>
            <a:ext cx="27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4080"/>
                </a:solidFill>
                <a:latin typeface="Consolas"/>
              </a:rPr>
              <a:t>상관/회귀/군집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000" y="2970000"/>
            <a:ext cx="2556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E1E32"/>
                </a:solidFill>
                <a:latin typeface="맑은 고딕"/>
              </a:rPr>
              <a:t>Random Forest, 패널 회귀(Fixed Effects) 등 다층적 통계 분석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08000" y="1620000"/>
            <a:ext cx="2700000" cy="72000"/>
          </a:xfrm>
          <a:prstGeom prst="rect">
            <a:avLst/>
          </a:prstGeom>
          <a:solidFill>
            <a:srgbClr val="2D8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188000" y="1800000"/>
            <a:ext cx="540000" cy="540000"/>
          </a:xfrm>
          <a:prstGeom prst="rect">
            <a:avLst/>
          </a:prstGeom>
          <a:solidFill>
            <a:srgbClr val="EEF6F6"/>
          </a:solidFill>
          <a:ln w="12700">
            <a:solidFill>
              <a:srgbClr val="2D8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88000" y="1836000"/>
            <a:ext cx="54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D8B6B"/>
                </a:solidFill>
                <a:latin typeface="맑은 고딕"/>
              </a:rPr>
              <a:t>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8000" y="2447999"/>
            <a:ext cx="270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E1E32"/>
                </a:solidFill>
                <a:latin typeface="맑은 고딕"/>
              </a:rPr>
              <a:t>4. 시각화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8000" y="2736000"/>
            <a:ext cx="27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D8B6B"/>
                </a:solidFill>
                <a:latin typeface="Consolas"/>
              </a:rPr>
              <a:t>ggplot2, patchwork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0000" y="2970000"/>
            <a:ext cx="2556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E1E32"/>
                </a:solidFill>
                <a:latin typeface="맑은 고딕"/>
              </a:rPr>
              <a:t>통합 대시보드 및 지리정보 기반 인터랙티브 시각화 구현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32000" y="6552000"/>
            <a:ext cx="86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99"/>
                </a:solidFill>
                <a:latin typeface="맑은 고딕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360000" cy="612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60000" y="0"/>
            <a:ext cx="2832119" cy="612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8000" y="288000"/>
            <a:ext cx="79200" cy="2592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000" y="2736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1A2B4A"/>
                </a:solidFill>
                <a:latin typeface="맑은 고딕"/>
              </a:rPr>
              <a:t>데이터 전처리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666000"/>
            <a:ext cx="1123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32"/>
                </a:solidFill>
                <a:latin typeface="맑은 고딕"/>
              </a:rPr>
              <a:t>분석 결과의 신뢰도를 결정하는 핵심 단계로, 철저한 검증을 통해 분석용 마트를 구축했습니다.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8000" y="1152000"/>
            <a:ext cx="2088000" cy="9720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8000" y="1476000"/>
            <a:ext cx="208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1. 숫자형 변환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60000" y="1494000"/>
            <a:ext cx="1440000" cy="259200"/>
          </a:xfrm>
          <a:prstGeom prst="rect">
            <a:avLst/>
          </a:prstGeom>
          <a:solidFill>
            <a:srgbClr val="F2F2F7"/>
          </a:solidFill>
          <a:ln w="63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60000" y="1504800"/>
            <a:ext cx="144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D7B7B"/>
                </a:solidFill>
                <a:latin typeface="Consolas"/>
              </a:rPr>
              <a:t>as.numeric()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08000" y="1476000"/>
            <a:ext cx="738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E32"/>
                </a:solidFill>
                <a:latin typeface="맑은 고딕"/>
              </a:rPr>
              <a:t>문자열로 수집된 로우 데이터를 연산 가능한 수치 데이터로 일괄 변환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000" y="2394000"/>
            <a:ext cx="2088000" cy="9720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000" y="2718000"/>
            <a:ext cx="208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2. 결측치 제거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60000" y="2736000"/>
            <a:ext cx="1440000" cy="259200"/>
          </a:xfrm>
          <a:prstGeom prst="rect">
            <a:avLst/>
          </a:prstGeom>
          <a:solidFill>
            <a:srgbClr val="F2F2F7"/>
          </a:solidFill>
          <a:ln w="63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60000" y="2746800"/>
            <a:ext cx="144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D7B7B"/>
                </a:solidFill>
                <a:latin typeface="Consolas"/>
              </a:rPr>
              <a:t>drop_na()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8000" y="2718000"/>
            <a:ext cx="738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E32"/>
                </a:solidFill>
                <a:latin typeface="맑은 고딕"/>
              </a:rPr>
              <a:t>핵심 분석 변수 기준 결측치가 존재하는 불완전한 레코드를 데이터셋에서 제외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3636000"/>
            <a:ext cx="2088000" cy="9720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000" y="3960000"/>
            <a:ext cx="208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3. 공간 결합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260000" y="3978000"/>
            <a:ext cx="1440000" cy="259200"/>
          </a:xfrm>
          <a:prstGeom prst="rect">
            <a:avLst/>
          </a:prstGeom>
          <a:solidFill>
            <a:srgbClr val="F2F2F7"/>
          </a:solidFill>
          <a:ln w="63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60000" y="3988800"/>
            <a:ext cx="144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D7B7B"/>
                </a:solidFill>
                <a:latin typeface="Consolas"/>
              </a:rPr>
              <a:t>left_join()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08000" y="3960000"/>
            <a:ext cx="738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E32"/>
                </a:solidFill>
                <a:latin typeface="맑은 고딕"/>
              </a:rPr>
              <a:t>공통 JoinKey 생성 후 SHP 공간 속성과 10대 건강 지표 데이터 매칭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000" y="4878000"/>
            <a:ext cx="2088000" cy="972000"/>
          </a:xfrm>
          <a:prstGeom prst="rect">
            <a:avLst/>
          </a:prstGeom>
          <a:solidFill>
            <a:srgbClr val="1A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000" y="5202000"/>
            <a:ext cx="208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4. 정합성 검증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260000" y="5220000"/>
            <a:ext cx="1440000" cy="259200"/>
          </a:xfrm>
          <a:prstGeom prst="rect">
            <a:avLst/>
          </a:prstGeom>
          <a:solidFill>
            <a:srgbClr val="F2F2F7"/>
          </a:solidFill>
          <a:ln w="63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0000" y="5230800"/>
            <a:ext cx="144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D7B7B"/>
                </a:solidFill>
                <a:latin typeface="Consolas"/>
              </a:rPr>
              <a:t>anti_join()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08000" y="5202000"/>
            <a:ext cx="738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E32"/>
                </a:solidFill>
                <a:latin typeface="맑은 고딕"/>
              </a:rPr>
              <a:t>행정구역 통폐합에 따른 매칭 오류를 사전 탐지하여 데이터 신뢰성 100% 확보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32000" y="6552000"/>
            <a:ext cx="86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99"/>
                </a:solidFill>
                <a:latin typeface="맑은 고딕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360000" cy="612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60000" y="0"/>
            <a:ext cx="2832119" cy="612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8000" y="288000"/>
            <a:ext cx="79200" cy="2592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000" y="2736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1A2B4A"/>
                </a:solidFill>
                <a:latin typeface="맑은 고딕"/>
              </a:rPr>
              <a:t>10대 건강 지표 상관관계 히트맵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468000" y="827999"/>
            <a:ext cx="1152000" cy="486000"/>
          </a:xfrm>
          <a:prstGeom prst="rect">
            <a:avLst/>
          </a:prstGeom>
          <a:solidFill>
            <a:srgbClr val="E0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4000" y="953998"/>
            <a:ext cx="108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B4A"/>
                </a:solidFill>
                <a:latin typeface="맑은 고딕"/>
              </a:rPr>
              <a:t>변수</a:t>
            </a:r>
          </a:p>
        </p:txBody>
      </p:sp>
      <p:sp>
        <p:nvSpPr>
          <p:cNvPr id="8" name="Rectangle 7"/>
          <p:cNvSpPr/>
          <p:nvPr/>
        </p:nvSpPr>
        <p:spPr>
          <a:xfrm>
            <a:off x="1620000" y="827999"/>
            <a:ext cx="1152000" cy="486000"/>
          </a:xfrm>
          <a:prstGeom prst="rect">
            <a:avLst/>
          </a:prstGeom>
          <a:solidFill>
            <a:srgbClr val="E0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56000" y="953998"/>
            <a:ext cx="108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B4A"/>
                </a:solidFill>
                <a:latin typeface="맑은 고딕"/>
              </a:rPr>
              <a:t>걷기율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72000" y="827999"/>
            <a:ext cx="1152000" cy="486000"/>
          </a:xfrm>
          <a:prstGeom prst="rect">
            <a:avLst/>
          </a:prstGeom>
          <a:solidFill>
            <a:srgbClr val="E0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08000" y="953998"/>
            <a:ext cx="108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B4A"/>
                </a:solidFill>
                <a:latin typeface="맑은 고딕"/>
              </a:rPr>
              <a:t>비만율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24000" y="827999"/>
            <a:ext cx="1152000" cy="486000"/>
          </a:xfrm>
          <a:prstGeom prst="rect">
            <a:avLst/>
          </a:prstGeom>
          <a:solidFill>
            <a:srgbClr val="E0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0" y="953998"/>
            <a:ext cx="108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B4A"/>
                </a:solidFill>
                <a:latin typeface="맑은 고딕"/>
              </a:rPr>
              <a:t>고혈압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6000" y="827999"/>
            <a:ext cx="1152000" cy="486000"/>
          </a:xfrm>
          <a:prstGeom prst="rect">
            <a:avLst/>
          </a:prstGeom>
          <a:solidFill>
            <a:srgbClr val="E0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12000" y="953998"/>
            <a:ext cx="108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B4A"/>
                </a:solidFill>
                <a:latin typeface="맑은 고딕"/>
              </a:rPr>
              <a:t>당뇨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000" y="1313999"/>
            <a:ext cx="1152000" cy="486000"/>
          </a:xfrm>
          <a:prstGeom prst="rect">
            <a:avLst/>
          </a:prstGeom>
          <a:solidFill>
            <a:srgbClr val="F2F2F7"/>
          </a:solidFill>
          <a:ln w="381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000" y="1439998"/>
            <a:ext cx="108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1E32"/>
                </a:solidFill>
                <a:latin typeface="맑은 고딕"/>
              </a:rPr>
              <a:t>걷기율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20000" y="1313999"/>
            <a:ext cx="1152000" cy="486000"/>
          </a:xfrm>
          <a:prstGeom prst="rect">
            <a:avLst/>
          </a:prstGeom>
          <a:solidFill>
            <a:srgbClr val="EEF5F5"/>
          </a:solidFill>
          <a:ln w="381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56000" y="1439998"/>
            <a:ext cx="108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1E32"/>
                </a:solidFill>
                <a:latin typeface="맑은 고딕"/>
              </a:rPr>
              <a:t>1.00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72000" y="1313999"/>
            <a:ext cx="1152000" cy="486000"/>
          </a:xfrm>
          <a:prstGeom prst="rect">
            <a:avLst/>
          </a:prstGeom>
          <a:solidFill>
            <a:srgbClr val="F2F2F7"/>
          </a:solidFill>
          <a:ln w="381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08000" y="1439998"/>
            <a:ext cx="108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D8B6B"/>
                </a:solidFill>
                <a:latin typeface="맑은 고딕"/>
              </a:rPr>
              <a:t>−0.52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24000" y="1313999"/>
            <a:ext cx="1152000" cy="486000"/>
          </a:xfrm>
          <a:prstGeom prst="rect">
            <a:avLst/>
          </a:prstGeom>
          <a:solidFill>
            <a:srgbClr val="F2F2F7"/>
          </a:solidFill>
          <a:ln w="381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60000" y="1439998"/>
            <a:ext cx="108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1E32"/>
                </a:solidFill>
                <a:latin typeface="맑은 고딕"/>
              </a:rPr>
              <a:t>−0.28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76000" y="1313999"/>
            <a:ext cx="1152000" cy="486000"/>
          </a:xfrm>
          <a:prstGeom prst="rect">
            <a:avLst/>
          </a:prstGeom>
          <a:solidFill>
            <a:srgbClr val="F2F2F7"/>
          </a:solidFill>
          <a:ln w="381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12000" y="1439998"/>
            <a:ext cx="108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1E32"/>
                </a:solidFill>
                <a:latin typeface="맑은 고딕"/>
              </a:rPr>
              <a:t>−0.31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8000" y="1799999"/>
            <a:ext cx="1152000" cy="48600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00" y="1925998"/>
            <a:ext cx="108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1E32"/>
                </a:solidFill>
                <a:latin typeface="맑은 고딕"/>
              </a:rPr>
              <a:t>비만율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620000" y="1799999"/>
            <a:ext cx="1152000" cy="48600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56000" y="1925998"/>
            <a:ext cx="108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1E32"/>
                </a:solidFill>
                <a:latin typeface="맑은 고딕"/>
              </a:rPr>
              <a:t>−0.52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72000" y="1799999"/>
            <a:ext cx="1152000" cy="486000"/>
          </a:xfrm>
          <a:prstGeom prst="rect">
            <a:avLst/>
          </a:prstGeom>
          <a:solidFill>
            <a:srgbClr val="EEF5F5"/>
          </a:solidFill>
          <a:ln w="381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08000" y="1925998"/>
            <a:ext cx="108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1E32"/>
                </a:solidFill>
                <a:latin typeface="맑은 고딕"/>
              </a:rPr>
              <a:t>1.00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24000" y="1799999"/>
            <a:ext cx="1152000" cy="48600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60000" y="1925998"/>
            <a:ext cx="108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C2233"/>
                </a:solidFill>
                <a:latin typeface="맑은 고딕"/>
              </a:rPr>
              <a:t> 0.64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76000" y="1799999"/>
            <a:ext cx="1152000" cy="48600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12000" y="1925998"/>
            <a:ext cx="108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C2233"/>
                </a:solidFill>
                <a:latin typeface="맑은 고딕"/>
              </a:rPr>
              <a:t> 0.58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8000" y="2285999"/>
            <a:ext cx="1152000" cy="486000"/>
          </a:xfrm>
          <a:prstGeom prst="rect">
            <a:avLst/>
          </a:prstGeom>
          <a:solidFill>
            <a:srgbClr val="F2F2F7"/>
          </a:solidFill>
          <a:ln w="381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4000" y="2411998"/>
            <a:ext cx="108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1E32"/>
                </a:solidFill>
                <a:latin typeface="맑은 고딕"/>
              </a:rPr>
              <a:t>고혈압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20000" y="2285999"/>
            <a:ext cx="1152000" cy="486000"/>
          </a:xfrm>
          <a:prstGeom prst="rect">
            <a:avLst/>
          </a:prstGeom>
          <a:solidFill>
            <a:srgbClr val="F2F2F7"/>
          </a:solidFill>
          <a:ln w="381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56000" y="2411998"/>
            <a:ext cx="108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1E32"/>
                </a:solidFill>
                <a:latin typeface="맑은 고딕"/>
              </a:rPr>
              <a:t>−0.28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72000" y="2285999"/>
            <a:ext cx="1152000" cy="486000"/>
          </a:xfrm>
          <a:prstGeom prst="rect">
            <a:avLst/>
          </a:prstGeom>
          <a:solidFill>
            <a:srgbClr val="F2F2F7"/>
          </a:solidFill>
          <a:ln w="381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08000" y="2411998"/>
            <a:ext cx="108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C2233"/>
                </a:solidFill>
                <a:latin typeface="맑은 고딕"/>
              </a:rPr>
              <a:t> 0.64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24000" y="2285999"/>
            <a:ext cx="1152000" cy="486000"/>
          </a:xfrm>
          <a:prstGeom prst="rect">
            <a:avLst/>
          </a:prstGeom>
          <a:solidFill>
            <a:srgbClr val="EEF5F5"/>
          </a:solidFill>
          <a:ln w="381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60000" y="2411998"/>
            <a:ext cx="108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1E32"/>
                </a:solidFill>
                <a:latin typeface="맑은 고딕"/>
              </a:rPr>
              <a:t>1.00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76000" y="2285999"/>
            <a:ext cx="1152000" cy="486000"/>
          </a:xfrm>
          <a:prstGeom prst="rect">
            <a:avLst/>
          </a:prstGeom>
          <a:solidFill>
            <a:srgbClr val="F2F2F7"/>
          </a:solidFill>
          <a:ln w="381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12000" y="2411998"/>
            <a:ext cx="108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1E32"/>
                </a:solidFill>
                <a:latin typeface="맑은 고딕"/>
              </a:rPr>
              <a:t> 0.42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8000" y="2771999"/>
            <a:ext cx="1152000" cy="48600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4000" y="2897998"/>
            <a:ext cx="108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1E32"/>
                </a:solidFill>
                <a:latin typeface="맑은 고딕"/>
              </a:rPr>
              <a:t>당뇨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620000" y="2771999"/>
            <a:ext cx="1152000" cy="48600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656000" y="2897998"/>
            <a:ext cx="108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1E32"/>
                </a:solidFill>
                <a:latin typeface="맑은 고딕"/>
              </a:rPr>
              <a:t>−0.31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72000" y="2771999"/>
            <a:ext cx="1152000" cy="48600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08000" y="2897998"/>
            <a:ext cx="108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C2233"/>
                </a:solidFill>
                <a:latin typeface="맑은 고딕"/>
              </a:rPr>
              <a:t> 0.58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24000" y="2771999"/>
            <a:ext cx="1152000" cy="48600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960000" y="2897998"/>
            <a:ext cx="108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1E32"/>
                </a:solidFill>
                <a:latin typeface="맑은 고딕"/>
              </a:rPr>
              <a:t> 0.42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76000" y="2771999"/>
            <a:ext cx="1152000" cy="486000"/>
          </a:xfrm>
          <a:prstGeom prst="rect">
            <a:avLst/>
          </a:prstGeom>
          <a:solidFill>
            <a:srgbClr val="EEF5F5"/>
          </a:solidFill>
          <a:ln w="381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112000" y="2897998"/>
            <a:ext cx="108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E1E32"/>
                </a:solidFill>
                <a:latin typeface="맑은 고딕"/>
              </a:rPr>
              <a:t>1.00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0000" y="827999"/>
            <a:ext cx="5580000" cy="1980000"/>
          </a:xfrm>
          <a:prstGeom prst="rect">
            <a:avLst/>
          </a:prstGeom>
          <a:noFill/>
          <a:ln w="19050">
            <a:solidFill>
              <a:srgbClr val="2D8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8000" y="917999"/>
            <a:ext cx="54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8B6B"/>
                </a:solidFill>
                <a:latin typeface="맑은 고딕"/>
              </a:rPr>
              <a:t>r = −0.52  (음의 상관)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8000" y="1134000"/>
            <a:ext cx="540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1E32"/>
                </a:solidFill>
                <a:latin typeface="맑은 고딕"/>
              </a:rPr>
              <a:t>걷기 실천율  ↔  비만율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8000" y="1422000"/>
            <a:ext cx="54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32"/>
                </a:solidFill>
                <a:latin typeface="맑은 고딕"/>
              </a:rPr>
              <a:t>걷기율이 높은 지역일수록 비만율이 뚜렷하게 낮아지는 경향을 확인했습니다.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0000" y="3024000"/>
            <a:ext cx="5580000" cy="1980000"/>
          </a:xfrm>
          <a:prstGeom prst="rect">
            <a:avLst/>
          </a:prstGeom>
          <a:noFill/>
          <a:ln w="19050">
            <a:solidFill>
              <a:srgbClr val="851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8000" y="3114000"/>
            <a:ext cx="54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51A20"/>
                </a:solidFill>
                <a:latin typeface="맑은 고딕"/>
              </a:rPr>
              <a:t>r = 0.64 / 0.58  (양의 상관)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8000" y="3330000"/>
            <a:ext cx="540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1E32"/>
                </a:solidFill>
                <a:latin typeface="맑은 고딕"/>
              </a:rPr>
              <a:t>비만율  ↔  고혈압/당뇨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8000" y="3618000"/>
            <a:ext cx="54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32"/>
                </a:solidFill>
                <a:latin typeface="맑은 고딕"/>
              </a:rPr>
              <a:t>비만율이 높은 지역에서 고혈압과 당뇨 유병률 또한 동일한 패턴으로 높게 나타납니다.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32000" y="6552000"/>
            <a:ext cx="86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99"/>
                </a:solidFill>
                <a:latin typeface="맑은 고딕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360000" cy="612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60000" y="0"/>
            <a:ext cx="2832119" cy="612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8000" y="288000"/>
            <a:ext cx="79200" cy="2592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000" y="2736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1A2B4A"/>
                </a:solidFill>
                <a:latin typeface="맑은 고딕"/>
              </a:rPr>
              <a:t>다중 회귀 분석: 비만율 영향 요인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666000"/>
            <a:ext cx="1123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32"/>
                </a:solidFill>
                <a:latin typeface="맑은 고딕"/>
              </a:rPr>
              <a:t>단순 상관을 넘어, 생활습관 변수들을 동시 통제한 후의 독립적인 영향력을 산출했습니다.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8000" y="1007999"/>
            <a:ext cx="11232000" cy="720000"/>
          </a:xfrm>
          <a:prstGeom prst="rect">
            <a:avLst/>
          </a:prstGeom>
          <a:solidFill>
            <a:srgbClr val="F5F5FA"/>
          </a:solidFill>
          <a:ln w="63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00" y="1062000"/>
            <a:ext cx="10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D7B7B"/>
                </a:solidFill>
                <a:latin typeface="Consolas"/>
              </a:rPr>
              <a:t>R Model Formula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1260000"/>
            <a:ext cx="10980000" cy="30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0" i="0">
                <a:solidFill>
                  <a:srgbClr val="1A2B4A"/>
                </a:solidFill>
                <a:latin typeface="Consolas"/>
              </a:rPr>
              <a:t>model  &lt;-  lm(비만율  ~  걷기_실천율  +  중강도_활동율  +  고위험_음주율  +  스트레스_인지율  +  흡연율,  data = df)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000" y="1908000"/>
            <a:ext cx="3671999" cy="54000"/>
          </a:xfrm>
          <a:prstGeom prst="rect">
            <a:avLst/>
          </a:prstGeom>
          <a:solidFill>
            <a:srgbClr val="1A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8000" y="1962000"/>
            <a:ext cx="3671999" cy="2646000"/>
          </a:xfrm>
          <a:prstGeom prst="rect">
            <a:avLst/>
          </a:prstGeom>
          <a:noFill/>
          <a:ln w="63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8800" y="2016000"/>
            <a:ext cx="35279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맑은 고딕"/>
              </a:rPr>
              <a:t>FINDING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8800" y="2167200"/>
            <a:ext cx="3527999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E1E32"/>
                </a:solidFill>
                <a:latin typeface="맑은 고딕"/>
              </a:rPr>
              <a:t>걷기율의 독립적 효과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8800" y="2419200"/>
            <a:ext cx="3527999" cy="21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32"/>
                </a:solidFill>
                <a:latin typeface="맑은 고딕"/>
              </a:rPr>
              <a:t>음주, 흡연 등 타 변수를 통제한 후에도 걷기 실천율은 비만율 감소에 통계적으로 유의미한 독립적 효과를 미칩니다.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7999" y="1908000"/>
            <a:ext cx="3671999" cy="54000"/>
          </a:xfrm>
          <a:prstGeom prst="rect">
            <a:avLst/>
          </a:prstGeom>
          <a:solidFill>
            <a:srgbClr val="85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7999" y="1962000"/>
            <a:ext cx="3671999" cy="2646000"/>
          </a:xfrm>
          <a:prstGeom prst="rect">
            <a:avLst/>
          </a:prstGeom>
          <a:noFill/>
          <a:ln w="63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799" y="2016000"/>
            <a:ext cx="35279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맑은 고딕"/>
              </a:rPr>
              <a:t>FINDING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8799" y="2167200"/>
            <a:ext cx="3527999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E1E32"/>
                </a:solidFill>
                <a:latin typeface="맑은 고딕"/>
              </a:rPr>
              <a:t>고위험 음주율의 위험성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8799" y="2419200"/>
            <a:ext cx="3527999" cy="21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32"/>
                </a:solidFill>
                <a:latin typeface="맑은 고딕"/>
              </a:rPr>
              <a:t>회귀계수 산출 결과, 고위험 음주율은 비만율 증가를 가장 크게 견인하는 치명적인 위험 요인으로 식별되었습니다.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07998" y="1908000"/>
            <a:ext cx="3671999" cy="54000"/>
          </a:xfrm>
          <a:prstGeom prst="rect">
            <a:avLst/>
          </a:prstGeom>
          <a:solidFill>
            <a:srgbClr val="2D8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07998" y="1962000"/>
            <a:ext cx="3671999" cy="2646000"/>
          </a:xfrm>
          <a:prstGeom prst="rect">
            <a:avLst/>
          </a:prstGeom>
          <a:noFill/>
          <a:ln w="63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8798" y="2016000"/>
            <a:ext cx="35279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맑은 고딕"/>
              </a:rPr>
              <a:t>VALIDATION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8798" y="2167200"/>
            <a:ext cx="3527999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E1E32"/>
                </a:solidFill>
                <a:latin typeface="맑은 고딕"/>
              </a:rPr>
              <a:t>모델 안정성 (VIF 검정)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8798" y="2419200"/>
            <a:ext cx="3527999" cy="21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32"/>
                </a:solidFill>
                <a:latin typeface="맑은 고딕"/>
              </a:rPr>
              <a:t>분산팽창계수(VIF) 검정 결과 모든 변수가 기준치를 통과하여 다중공선성 오류가 없는 안정적 모델임이 확인되었습니다.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32000" y="6552000"/>
            <a:ext cx="86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99"/>
                </a:solidFill>
                <a:latin typeface="맑은 고딕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360000" cy="612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60000" y="0"/>
            <a:ext cx="2832119" cy="612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8000" y="288000"/>
            <a:ext cx="79200" cy="2592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000" y="2736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1A2B4A"/>
                </a:solidFill>
                <a:latin typeface="맑은 고딕"/>
              </a:rPr>
              <a:t>만성질환 영향 분석 (간접 경로 규명)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666000"/>
            <a:ext cx="1123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32"/>
                </a:solidFill>
                <a:latin typeface="맑은 고딕"/>
              </a:rPr>
              <a:t>걷기를 많이 하는 상위 25% 지역은 하위 지역에 비해 질환 진단율이 일관되게 낮습니다.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8000" y="1152000"/>
            <a:ext cx="43200" cy="34200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000" y="1224000"/>
            <a:ext cx="48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  <a:latin typeface="맑은 고딕"/>
              </a:rPr>
              <a:t>Core Mechanism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" y="1440000"/>
            <a:ext cx="48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B4A"/>
                </a:solidFill>
                <a:latin typeface="맑은 고딕"/>
              </a:rPr>
              <a:t>걷기  →  비만 감소  →  만성질환 감소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000" y="1835999"/>
            <a:ext cx="48600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E32"/>
                </a:solidFill>
                <a:latin typeface="맑은 고딕"/>
              </a:rPr>
              <a:t>고혈압 모델 분석 시 비만율이 1% 증가할 때 고혈압 진단율이 약 0.25%p 증가했습니다.
걷기의 직접적 효과보다, '비만 감소'를 매개로 한 간접 경로가 만성질환 방어의 핵심 보건 메커니즘으로 작동함을 규명했습니다.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0000" y="900000"/>
            <a:ext cx="5760000" cy="3960000"/>
          </a:xfrm>
          <a:prstGeom prst="rect">
            <a:avLst/>
          </a:prstGeom>
          <a:noFill/>
          <a:ln w="63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0000" y="972000"/>
            <a:ext cx="57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B4A"/>
                </a:solidFill>
                <a:latin typeface="맑은 고딕"/>
              </a:rPr>
              <a:t>걷기 수준별 만성질환 진단율 격차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60000" y="3031200"/>
            <a:ext cx="720000" cy="1468800"/>
          </a:xfrm>
          <a:prstGeom prst="rect">
            <a:avLst/>
          </a:prstGeom>
          <a:solidFill>
            <a:srgbClr val="1A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0000" y="2851200"/>
            <a:ext cx="72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1A4080"/>
                </a:solidFill>
                <a:latin typeface="맑은 고딕"/>
              </a:rPr>
              <a:t>상위 25%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0000" y="2689200"/>
            <a:ext cx="72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1A4080"/>
                </a:solidFill>
                <a:latin typeface="맑은 고딕"/>
              </a:rPr>
              <a:t>68%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60000" y="2685600"/>
            <a:ext cx="720000" cy="1814400"/>
          </a:xfrm>
          <a:prstGeom prst="rect">
            <a:avLst/>
          </a:prstGeom>
          <a:solidFill>
            <a:srgbClr val="85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60000" y="2505600"/>
            <a:ext cx="72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51A20"/>
                </a:solidFill>
                <a:latin typeface="맑은 고딕"/>
              </a:rPr>
              <a:t>하위 25%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0000" y="2343600"/>
            <a:ext cx="72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851A20"/>
                </a:solidFill>
                <a:latin typeface="맑은 고딕"/>
              </a:rPr>
              <a:t>84%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0000" y="4536000"/>
            <a:ext cx="16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1E32"/>
                </a:solidFill>
                <a:latin typeface="맑은 고딕"/>
              </a:rPr>
              <a:t>고혈압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20000" y="3333600"/>
            <a:ext cx="720000" cy="1166400"/>
          </a:xfrm>
          <a:prstGeom prst="rect">
            <a:avLst/>
          </a:prstGeom>
          <a:solidFill>
            <a:srgbClr val="1A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0000" y="3153600"/>
            <a:ext cx="72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1A4080"/>
                </a:solidFill>
                <a:latin typeface="맑은 고딕"/>
              </a:rPr>
              <a:t>상위 25%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0000" y="2991600"/>
            <a:ext cx="72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1A4080"/>
                </a:solidFill>
                <a:latin typeface="맑은 고딕"/>
              </a:rPr>
              <a:t>54%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20000" y="2966400"/>
            <a:ext cx="720000" cy="1533600"/>
          </a:xfrm>
          <a:prstGeom prst="rect">
            <a:avLst/>
          </a:prstGeom>
          <a:solidFill>
            <a:srgbClr val="85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20000" y="2786400"/>
            <a:ext cx="72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51A20"/>
                </a:solidFill>
                <a:latin typeface="맑은 고딕"/>
              </a:rPr>
              <a:t>하위 25%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0000" y="2624400"/>
            <a:ext cx="72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851A20"/>
                </a:solidFill>
                <a:latin typeface="맑은 고딕"/>
              </a:rPr>
              <a:t>71%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0000" y="4536000"/>
            <a:ext cx="16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1E32"/>
                </a:solidFill>
                <a:latin typeface="맑은 고딕"/>
              </a:rPr>
              <a:t>당뇨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32000" y="6552000"/>
            <a:ext cx="86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99"/>
                </a:solidFill>
                <a:latin typeface="맑은 고딕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360000" cy="612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60000" y="0"/>
            <a:ext cx="2832119" cy="612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8000" y="288000"/>
            <a:ext cx="79200" cy="2592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000" y="2736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1A2B4A"/>
                </a:solidFill>
                <a:latin typeface="맑은 고딕"/>
              </a:rPr>
              <a:t>K-Means 군집 분석  ( K = 3 )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666000"/>
            <a:ext cx="1123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32"/>
                </a:solidFill>
                <a:latin typeface="맑은 고딕"/>
              </a:rPr>
              <a:t>변수들을 표준화 후 군집을 적용하여 전국을 3가지 지역 특성 그룹으로 분류했습니다.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8000" y="1044000"/>
            <a:ext cx="3671999" cy="72000"/>
          </a:xfrm>
          <a:prstGeom prst="rect">
            <a:avLst/>
          </a:prstGeom>
          <a:solidFill>
            <a:srgbClr val="85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8000" y="1116000"/>
            <a:ext cx="3671999" cy="3168000"/>
          </a:xfrm>
          <a:prstGeom prst="rect">
            <a:avLst/>
          </a:prstGeom>
          <a:noFill/>
          <a:ln w="63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224000"/>
            <a:ext cx="367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851A20"/>
                </a:solidFill>
                <a:latin typeface="맑은 고딕"/>
              </a:rPr>
              <a:t>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000" y="1656000"/>
            <a:ext cx="3671999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851A20"/>
                </a:solidFill>
                <a:latin typeface="맑은 고딕"/>
              </a:rPr>
              <a:t>건강 위험군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00" y="1980000"/>
            <a:ext cx="3491999" cy="2232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32"/>
                </a:solidFill>
                <a:latin typeface="맑은 고딕"/>
              </a:rPr>
              <a:t>비만, 음주, 흡연율 지표가 높게 나타나며 상대적으로 걷기 실천율이 매우 저조한 취약 지역입니다. 강력한 정책 개입이 시급합니다.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7999" y="1044000"/>
            <a:ext cx="3671999" cy="72000"/>
          </a:xfrm>
          <a:prstGeom prst="rect">
            <a:avLst/>
          </a:prstGeom>
          <a:solidFill>
            <a:srgbClr val="A06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7999" y="1116000"/>
            <a:ext cx="3671999" cy="3168000"/>
          </a:xfrm>
          <a:prstGeom prst="rect">
            <a:avLst/>
          </a:prstGeom>
          <a:noFill/>
          <a:ln w="63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7999" y="1224000"/>
            <a:ext cx="367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06020"/>
                </a:solidFill>
                <a:latin typeface="맑은 고딕"/>
              </a:rPr>
              <a:t>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7999" y="1656000"/>
            <a:ext cx="3671999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A06020"/>
                </a:solidFill>
                <a:latin typeface="맑은 고딕"/>
              </a:rPr>
              <a:t>건강 중간군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5999" y="1980000"/>
            <a:ext cx="3491999" cy="2232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32"/>
                </a:solidFill>
                <a:latin typeface="맑은 고딕"/>
              </a:rPr>
              <a:t>전국 평균 수준의 건강 행태와 만성질환 지표를 유지하고 있는 보편적 지역군입니다. 현행 유지 및 점진적 개선이 적합합니다.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7998" y="1044000"/>
            <a:ext cx="3671999" cy="72000"/>
          </a:xfrm>
          <a:prstGeom prst="rect">
            <a:avLst/>
          </a:prstGeom>
          <a:solidFill>
            <a:srgbClr val="2D8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7998" y="1116000"/>
            <a:ext cx="3671999" cy="3168000"/>
          </a:xfrm>
          <a:prstGeom prst="rect">
            <a:avLst/>
          </a:prstGeom>
          <a:noFill/>
          <a:ln w="63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7998" y="1224000"/>
            <a:ext cx="3671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D8B6B"/>
                </a:solidFill>
                <a:latin typeface="맑은 고딕"/>
              </a:rPr>
              <a:t>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7998" y="1656000"/>
            <a:ext cx="3671999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2D8B6B"/>
                </a:solidFill>
                <a:latin typeface="맑은 고딕"/>
              </a:rPr>
              <a:t>건강 양호군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5998" y="1980000"/>
            <a:ext cx="3491999" cy="2232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1E32"/>
                </a:solidFill>
                <a:latin typeface="맑은 고딕"/>
              </a:rPr>
              <a:t>걷기 실천율이 활성화되어 있으며, 비만 및 음주 비율이 현저히 낮아 건강 지표가 전반적으로 우수한 모범 지역입니다.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000" y="4500000"/>
            <a:ext cx="11232000" cy="648000"/>
          </a:xfrm>
          <a:prstGeom prst="rect">
            <a:avLst/>
          </a:prstGeom>
          <a:solidFill>
            <a:srgbClr val="EEF5F5"/>
          </a:solidFill>
          <a:ln w="6350">
            <a:solidFill>
              <a:srgbClr val="1D7B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000" y="4554000"/>
            <a:ext cx="18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B7B"/>
                </a:solidFill>
                <a:latin typeface="맑은 고딕"/>
              </a:rPr>
              <a:t>정책적 시사점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40000" y="4572000"/>
            <a:ext cx="91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E32"/>
                </a:solidFill>
                <a:latin typeface="맑은 고딕"/>
              </a:rPr>
              <a:t>공간 지도 시각화 결과, 전국 단위의 획일적 기준이 아닌 지역 유형별 취약 요인을 겨냥한 차별화된 보건 예산 배분이 필수적입니다.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32000" y="6552000"/>
            <a:ext cx="86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99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360000" cy="612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60000" y="0"/>
            <a:ext cx="2832119" cy="612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8000" y="288000"/>
            <a:ext cx="79200" cy="2592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000" y="2736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1A2B4A"/>
                </a:solidFill>
                <a:latin typeface="맑은 고딕"/>
              </a:rPr>
              <a:t>머신러닝 비만 예측 변수 중요도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666000"/>
            <a:ext cx="1123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32"/>
                </a:solidFill>
                <a:latin typeface="맑은 고딕"/>
              </a:rPr>
              <a:t>어떤 생활습관이 비만율에 가장 압도적인 영향을 미치는지 Random Forest로 정량화했습니다.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1152000"/>
            <a:ext cx="522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B4A"/>
                </a:solidFill>
                <a:latin typeface="맑은 고딕"/>
              </a:rPr>
              <a:t>로지스틱 회귀 교차 검증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8000" y="1494000"/>
            <a:ext cx="522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E32"/>
                </a:solidFill>
                <a:latin typeface="맑은 고딕"/>
              </a:rPr>
              <a:t>가상 시나리오(걷기율 30%, 음주율 20%) 분석 결과, 걷기율이 감소하고 음주율이 증가할수록 비만 고위험군으로 전락할 확률이 급증합니다.
통계적 방법(다중회귀)과 ML 기법 모두에서 걷기율의 중요성이 일관되게 확인되었습니다.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0" y="1044000"/>
            <a:ext cx="558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맑은 고딕"/>
              </a:rPr>
              <a:t>변수별 기여도  (ntree=500, IncNodePurity)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0000" y="1404000"/>
            <a:ext cx="172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E32"/>
                </a:solidFill>
                <a:latin typeface="맑은 고딕"/>
              </a:rPr>
              <a:t>흡연율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0000" y="1411200"/>
            <a:ext cx="900000" cy="23400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820000" y="1411200"/>
            <a:ext cx="2700000" cy="234000"/>
          </a:xfrm>
          <a:prstGeom prst="rect">
            <a:avLst/>
          </a:prstGeom>
          <a:solidFill>
            <a:srgbClr val="F2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92000" y="1404000"/>
            <a:ext cx="64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88899"/>
                </a:solidFill>
                <a:latin typeface="맑은 고딕"/>
              </a:rPr>
              <a:t>~25%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0000" y="2052000"/>
            <a:ext cx="172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E32"/>
                </a:solidFill>
                <a:latin typeface="맑은 고딕"/>
              </a:rPr>
              <a:t>고위험 음주율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0" y="2059200"/>
            <a:ext cx="792000" cy="234000"/>
          </a:xfrm>
          <a:prstGeom prst="rect">
            <a:avLst/>
          </a:prstGeom>
          <a:solidFill>
            <a:srgbClr val="85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12000" y="2059200"/>
            <a:ext cx="2808000" cy="234000"/>
          </a:xfrm>
          <a:prstGeom prst="rect">
            <a:avLst/>
          </a:prstGeom>
          <a:solidFill>
            <a:srgbClr val="F2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592000" y="2052000"/>
            <a:ext cx="64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51A20"/>
                </a:solidFill>
                <a:latin typeface="맑은 고딕"/>
              </a:rPr>
              <a:t>~22%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0000" y="2700000"/>
            <a:ext cx="172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E32"/>
                </a:solidFill>
                <a:latin typeface="맑은 고딕"/>
              </a:rPr>
              <a:t>스트레스 인지율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0" y="2707200"/>
            <a:ext cx="684000" cy="23400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04000" y="2707200"/>
            <a:ext cx="2916000" cy="234000"/>
          </a:xfrm>
          <a:prstGeom prst="rect">
            <a:avLst/>
          </a:prstGeom>
          <a:solidFill>
            <a:srgbClr val="F2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592000" y="2700000"/>
            <a:ext cx="64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88899"/>
                </a:solidFill>
                <a:latin typeface="맑은 고딕"/>
              </a:rPr>
              <a:t>~19%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0000" y="3348000"/>
            <a:ext cx="172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E32"/>
                </a:solidFill>
                <a:latin typeface="맑은 고딕"/>
              </a:rPr>
              <a:t>중강도 신체활동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20000" y="3355200"/>
            <a:ext cx="648000" cy="23400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68000" y="3355200"/>
            <a:ext cx="2952000" cy="234000"/>
          </a:xfrm>
          <a:prstGeom prst="rect">
            <a:avLst/>
          </a:prstGeom>
          <a:solidFill>
            <a:srgbClr val="F2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592000" y="3348000"/>
            <a:ext cx="64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88899"/>
                </a:solidFill>
                <a:latin typeface="맑은 고딕"/>
              </a:rPr>
              <a:t>~18%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0000" y="3996000"/>
            <a:ext cx="172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E32"/>
                </a:solidFill>
                <a:latin typeface="맑은 고딕"/>
              </a:rPr>
              <a:t>걷기 실천율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0000" y="4003200"/>
            <a:ext cx="576000" cy="2340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96000" y="4003200"/>
            <a:ext cx="3024000" cy="234000"/>
          </a:xfrm>
          <a:prstGeom prst="rect">
            <a:avLst/>
          </a:prstGeom>
          <a:solidFill>
            <a:srgbClr val="F2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592000" y="3996000"/>
            <a:ext cx="64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D7B7B"/>
                </a:solidFill>
                <a:latin typeface="맑은 고딕"/>
              </a:rPr>
              <a:t>~16%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32000" y="6552000"/>
            <a:ext cx="86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99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360000" cy="612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60000" y="0"/>
            <a:ext cx="2832119" cy="612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8000" y="288000"/>
            <a:ext cx="79200" cy="2592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000" y="2736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1A2B4A"/>
                </a:solidFill>
                <a:latin typeface="맑은 고딕"/>
              </a:rPr>
              <a:t>패널 회귀 분석 (Fixed Effects)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666000"/>
            <a:ext cx="1123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32"/>
                </a:solidFill>
                <a:latin typeface="맑은 고딕"/>
              </a:rPr>
              <a:t>지역 고유의 인프라와 지형 특성을 완전 통제하여 순수한 걷기율의 인과 효과를 입증합니다.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8000" y="1152000"/>
            <a:ext cx="43200" cy="30600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000" y="1152000"/>
            <a:ext cx="48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B4A"/>
                </a:solidFill>
                <a:latin typeface="맑은 고딕"/>
              </a:rPr>
              <a:t>왜 패널 모델인가?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" y="1512000"/>
            <a:ext cx="4860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E32"/>
                </a:solidFill>
                <a:latin typeface="맑은 고딕"/>
              </a:rPr>
              <a:t>plm 패키지의 Fixed Effects 모델을 사용하여 특정 지역이 가진 고유의 인프라 차이를 통제했습니다.
분석 결과 걷기율의 Estimate가 음수(−),  p &lt; 0.05 로 유의하게 산출되어, 걷기 정책이 전국 단위로 확고한 효과가 있음을 증명합니다.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0000" y="900000"/>
            <a:ext cx="5760000" cy="3960000"/>
          </a:xfrm>
          <a:prstGeom prst="rect">
            <a:avLst/>
          </a:prstGeom>
          <a:noFill/>
          <a:ln w="63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0000" y="972000"/>
            <a:ext cx="57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2B4A"/>
                </a:solidFill>
                <a:latin typeface="맑은 고딕"/>
              </a:rPr>
              <a:t>흡연율 vs 체중조절 시도율 교차 트렌드 (2009-2030)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0000" y="4680000"/>
            <a:ext cx="9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  <a:latin typeface="맑은 고딕"/>
              </a:rPr>
              <a:t>2009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20000" y="4680000"/>
            <a:ext cx="9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  <a:latin typeface="맑은 고딕"/>
              </a:rPr>
              <a:t>2030(E)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000" y="3420000"/>
            <a:ext cx="4680000" cy="43200"/>
          </a:xfrm>
          <a:prstGeom prst="rect">
            <a:avLst/>
          </a:prstGeom>
          <a:solidFill>
            <a:srgbClr val="1A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000" y="3420000"/>
            <a:ext cx="43200" cy="1080000"/>
          </a:xfrm>
          <a:prstGeom prst="rect">
            <a:avLst/>
          </a:prstGeom>
          <a:solidFill>
            <a:srgbClr val="1A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80000" y="2340000"/>
            <a:ext cx="43200" cy="1080000"/>
          </a:xfrm>
          <a:prstGeom prst="rect">
            <a:avLst/>
          </a:prstGeom>
          <a:solidFill>
            <a:srgbClr val="1A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60000" y="2160000"/>
            <a:ext cx="144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4080"/>
                </a:solidFill>
                <a:latin typeface="맑은 고딕"/>
              </a:rPr>
              <a:t>체중조절 의지 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2340000"/>
            <a:ext cx="4680000" cy="43200"/>
          </a:xfrm>
          <a:prstGeom prst="rect">
            <a:avLst/>
          </a:prstGeom>
          <a:solidFill>
            <a:srgbClr val="85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0000" y="2340000"/>
            <a:ext cx="43200" cy="1080000"/>
          </a:xfrm>
          <a:prstGeom prst="rect">
            <a:avLst/>
          </a:prstGeom>
          <a:solidFill>
            <a:srgbClr val="85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980000" y="3420000"/>
            <a:ext cx="43200" cy="1080000"/>
          </a:xfrm>
          <a:prstGeom prst="rect">
            <a:avLst/>
          </a:prstGeom>
          <a:solidFill>
            <a:srgbClr val="85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40000" y="3600000"/>
            <a:ext cx="10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51A20"/>
                </a:solidFill>
                <a:latin typeface="맑은 고딕"/>
              </a:rPr>
              <a:t>흡연율 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32000" y="6552000"/>
            <a:ext cx="86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99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360000" cy="612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60000" y="0"/>
            <a:ext cx="2832119" cy="612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8000" y="288000"/>
            <a:ext cx="79200" cy="2592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000" y="2736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1A2B4A"/>
                </a:solidFill>
                <a:latin typeface="맑은 고딕"/>
              </a:rPr>
              <a:t>정책 시뮬레이션 (2026-2030 예측)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666000"/>
            <a:ext cx="1123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32"/>
                </a:solidFill>
                <a:latin typeface="맑은 고딕"/>
              </a:rPr>
              <a:t>걷기율을 인위적으로 높이면 향후 5년 내 비만율의 가파른 상승세를 방어할 수 있는가?</a:t>
            </a:r>
          </a:p>
        </p:txBody>
      </p:sp>
      <p:sp>
        <p:nvSpPr>
          <p:cNvPr id="7" name="Rectangle 6"/>
          <p:cNvSpPr/>
          <p:nvPr/>
        </p:nvSpPr>
        <p:spPr>
          <a:xfrm>
            <a:off x="468000" y="1007999"/>
            <a:ext cx="5220000" cy="64800"/>
          </a:xfrm>
          <a:prstGeom prst="rect">
            <a:avLst/>
          </a:prstGeom>
          <a:solidFill>
            <a:srgbClr val="85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8000" y="1072799"/>
            <a:ext cx="5220000" cy="1728000"/>
          </a:xfrm>
          <a:prstGeom prst="rect">
            <a:avLst/>
          </a:prstGeom>
          <a:noFill/>
          <a:ln w="63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00" y="1169999"/>
            <a:ext cx="50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51A20"/>
                </a:solidFill>
                <a:latin typeface="맑은 고딕"/>
              </a:rPr>
              <a:t>현상 유지 시나리오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1475999"/>
            <a:ext cx="504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E32"/>
                </a:solidFill>
                <a:latin typeface="맑은 고딕"/>
              </a:rPr>
              <a:t>과거 추세가 그대로 연장되어 비만율이 2030년까지 브레이크 없이 지속적으로 가파르게 상승합니다.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2987999"/>
            <a:ext cx="5220000" cy="64800"/>
          </a:xfrm>
          <a:prstGeom prst="rect">
            <a:avLst/>
          </a:prstGeom>
          <a:solidFill>
            <a:srgbClr val="2D8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8000" y="3052799"/>
            <a:ext cx="5220000" cy="1728000"/>
          </a:xfrm>
          <a:prstGeom prst="rect">
            <a:avLst/>
          </a:prstGeom>
          <a:noFill/>
          <a:ln w="63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00" y="3149999"/>
            <a:ext cx="50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8B6B"/>
                </a:solidFill>
                <a:latin typeface="맑은 고딕"/>
              </a:rPr>
              <a:t>정책 개입 시나리오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3455999"/>
            <a:ext cx="504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E32"/>
                </a:solidFill>
                <a:latin typeface="맑은 고딕"/>
              </a:rPr>
              <a:t>매년 걷기율을 +1~5%p 상향 시킬 경우, 2030년 기준 현상 유지 대비 약 3.5%p의 비만율 상승 억제 효과를 가져옵니다.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0000" y="900000"/>
            <a:ext cx="5760000" cy="3960000"/>
          </a:xfrm>
          <a:prstGeom prst="rect">
            <a:avLst/>
          </a:prstGeom>
          <a:noFill/>
          <a:ln w="63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0000" y="972000"/>
            <a:ext cx="57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B4A"/>
                </a:solidFill>
                <a:latin typeface="맑은 고딕"/>
              </a:rPr>
              <a:t>2030 비만율 예측 다이어그램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0000" y="3311999"/>
            <a:ext cx="144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  <a:latin typeface="맑은 고딕"/>
              </a:rPr>
              <a:t>2025 기준점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80000" y="3240000"/>
            <a:ext cx="144000" cy="1440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80000" y="2340000"/>
            <a:ext cx="3420000" cy="43200"/>
          </a:xfrm>
          <a:prstGeom prst="rect">
            <a:avLst/>
          </a:prstGeom>
          <a:solidFill>
            <a:srgbClr val="85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80000" y="2340000"/>
            <a:ext cx="43200" cy="900000"/>
          </a:xfrm>
          <a:prstGeom prst="rect">
            <a:avLst/>
          </a:prstGeom>
          <a:solidFill>
            <a:srgbClr val="85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800000" y="2340000"/>
            <a:ext cx="43200" cy="288000"/>
          </a:xfrm>
          <a:prstGeom prst="rect">
            <a:avLst/>
          </a:prstGeom>
          <a:solidFill>
            <a:srgbClr val="85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60000" y="2124000"/>
            <a:ext cx="12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51A20"/>
                </a:solidFill>
                <a:latin typeface="맑은 고딕"/>
              </a:rPr>
              <a:t>현상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80000" y="2880000"/>
            <a:ext cx="3420000" cy="43200"/>
          </a:xfrm>
          <a:prstGeom prst="rect">
            <a:avLst/>
          </a:prstGeom>
          <a:solidFill>
            <a:srgbClr val="2D8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80000" y="2880000"/>
            <a:ext cx="43200" cy="360000"/>
          </a:xfrm>
          <a:prstGeom prst="rect">
            <a:avLst/>
          </a:prstGeom>
          <a:solidFill>
            <a:srgbClr val="2D8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00000" y="2880000"/>
            <a:ext cx="43200" cy="288000"/>
          </a:xfrm>
          <a:prstGeom prst="rect">
            <a:avLst/>
          </a:prstGeom>
          <a:solidFill>
            <a:srgbClr val="2D8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60000" y="2808000"/>
            <a:ext cx="12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8B6B"/>
                </a:solidFill>
                <a:latin typeface="맑은 고딕"/>
              </a:rPr>
              <a:t>정책 개입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0000" y="2520000"/>
            <a:ext cx="144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B4A"/>
                </a:solidFill>
                <a:latin typeface="맑은 고딕"/>
              </a:rPr>
              <a:t>~3.5%p 방어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000" y="4608000"/>
            <a:ext cx="9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  <a:latin typeface="맑은 고딕"/>
              </a:rPr>
              <a:t>2025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40000" y="4608000"/>
            <a:ext cx="1007999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  <a:latin typeface="맑은 고딕"/>
              </a:rPr>
              <a:t>2030(E)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32000" y="6552000"/>
            <a:ext cx="86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99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360000" cy="612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60000" y="0"/>
            <a:ext cx="2832119" cy="612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8000" y="288000"/>
            <a:ext cx="79200" cy="2592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000" y="2736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1A2B4A"/>
                </a:solidFill>
                <a:latin typeface="맑은 고딕"/>
              </a:rPr>
              <a:t>4대 건강지표 통합 미래 트렌드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666000"/>
            <a:ext cx="1123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32"/>
                </a:solidFill>
                <a:latin typeface="맑은 고딕"/>
              </a:rPr>
              <a:t>과거의 궤적을 통해 도출한 2030년 질환 및 건강행태의 거시적 변화 4대 추이입니다.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8000" y="1044000"/>
            <a:ext cx="5508000" cy="54000"/>
          </a:xfrm>
          <a:prstGeom prst="rect">
            <a:avLst/>
          </a:prstGeom>
          <a:solidFill>
            <a:srgbClr val="85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8000" y="1098000"/>
            <a:ext cx="5508000" cy="2178000"/>
          </a:xfrm>
          <a:prstGeom prst="rect">
            <a:avLst/>
          </a:prstGeom>
          <a:noFill/>
          <a:ln w="63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8800" y="1152000"/>
            <a:ext cx="5364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맑은 고딕"/>
              </a:rPr>
              <a:t>TREND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800" y="1303200"/>
            <a:ext cx="5364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1E32"/>
                </a:solidFill>
                <a:latin typeface="맑은 고딕"/>
              </a:rPr>
              <a:t>비만율 &amp; 당뇨 동반 상승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8800" y="1555200"/>
            <a:ext cx="5364000" cy="16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32"/>
                </a:solidFill>
                <a:latin typeface="맑은 고딕"/>
              </a:rPr>
              <a:t>비만율 상승 궤적에 따라 당뇨 진단율이 시차를 두고 비례하여 동반 상승하는 패턴이 명확히 예측됩니다.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2000" y="1044000"/>
            <a:ext cx="5508000" cy="54000"/>
          </a:xfrm>
          <a:prstGeom prst="rect">
            <a:avLst/>
          </a:prstGeom>
          <a:solidFill>
            <a:srgbClr val="1A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2000" y="1098000"/>
            <a:ext cx="5508000" cy="2178000"/>
          </a:xfrm>
          <a:prstGeom prst="rect">
            <a:avLst/>
          </a:prstGeom>
          <a:noFill/>
          <a:ln w="63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2800" y="1152000"/>
            <a:ext cx="5364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맑은 고딕"/>
              </a:rPr>
              <a:t>TREND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2800" y="1303200"/>
            <a:ext cx="5364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1E32"/>
                </a:solidFill>
                <a:latin typeface="맑은 고딕"/>
              </a:rPr>
              <a:t>고혈압 &amp; 당뇨 상호 강화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2800" y="1555200"/>
            <a:ext cx="5364000" cy="16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32"/>
                </a:solidFill>
                <a:latin typeface="맑은 고딕"/>
              </a:rPr>
              <a:t>강력한 양의 상관관계를 가진 고혈압과 당뇨 지표는 2030년까지 상호 위험을 강화하며 동반 확산될 전망입니다.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3491999"/>
            <a:ext cx="5508000" cy="54000"/>
          </a:xfrm>
          <a:prstGeom prst="rect">
            <a:avLst/>
          </a:prstGeom>
          <a:solidFill>
            <a:srgbClr val="A06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8000" y="3545999"/>
            <a:ext cx="5508000" cy="2178000"/>
          </a:xfrm>
          <a:prstGeom prst="rect">
            <a:avLst/>
          </a:prstGeom>
          <a:noFill/>
          <a:ln w="63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8800" y="3599999"/>
            <a:ext cx="5364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맑은 고딕"/>
              </a:rPr>
              <a:t>TREND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8800" y="3751199"/>
            <a:ext cx="5364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1E32"/>
                </a:solidFill>
                <a:latin typeface="맑은 고딕"/>
              </a:rPr>
              <a:t>체중조절 의지 vs 비만 역설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8800" y="4003199"/>
            <a:ext cx="5364000" cy="16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32"/>
                </a:solidFill>
                <a:latin typeface="맑은 고딕"/>
              </a:rPr>
              <a:t>시민들의 체중조절 시도율(관심)은 지속 상승하나 실제 비만율도 상승하는 역설적 현상입니다. 실천 환경 조성이 급선무입니다.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2000" y="3491999"/>
            <a:ext cx="5508000" cy="54000"/>
          </a:xfrm>
          <a:prstGeom prst="rect">
            <a:avLst/>
          </a:prstGeom>
          <a:solidFill>
            <a:srgbClr val="1D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2000" y="3545999"/>
            <a:ext cx="5508000" cy="2178000"/>
          </a:xfrm>
          <a:prstGeom prst="rect">
            <a:avLst/>
          </a:prstGeom>
          <a:noFill/>
          <a:ln w="63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92800" y="3599999"/>
            <a:ext cx="5364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99"/>
                </a:solidFill>
                <a:latin typeface="맑은 고딕"/>
              </a:rPr>
              <a:t>TREND 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92800" y="3751199"/>
            <a:ext cx="5364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1E32"/>
                </a:solidFill>
                <a:latin typeface="맑은 고딕"/>
              </a:rPr>
              <a:t>비만 확산과 고혈압 경고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2800" y="4003199"/>
            <a:ext cx="5364000" cy="16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1E32"/>
                </a:solidFill>
                <a:latin typeface="맑은 고딕"/>
              </a:rPr>
              <a:t>비만율 누적 상승치가 임계점을 넘으며, 향후 5년간 고혈압 진단율의 상승폭 또한 매우 가팔라질 것으로 경고됩니다.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32000" y="6552000"/>
            <a:ext cx="86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99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92000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44000"/>
            <a:ext cx="12192119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99"/>
                </a:solidFill>
                <a:latin typeface="맑은 고딕"/>
              </a:rPr>
              <a:t>15. 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60000"/>
            <a:ext cx="12192119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맑은 고딕"/>
              </a:rPr>
              <a:t>최종 분석 결론 및 정책 제언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972000"/>
            <a:ext cx="11088000" cy="2951999"/>
          </a:xfrm>
          <a:prstGeom prst="rect">
            <a:avLst/>
          </a:prstGeom>
          <a:solidFill>
            <a:srgbClr val="F2F2F7"/>
          </a:solidFill>
          <a:ln w="63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116000"/>
            <a:ext cx="252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B4A"/>
                </a:solidFill>
                <a:latin typeface="맑은 고딕"/>
              </a:rPr>
              <a:t>1. 유의성 검증: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0000" y="1116000"/>
            <a:ext cx="810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E32"/>
                </a:solidFill>
                <a:latin typeface="맑은 고딕"/>
              </a:rPr>
              <a:t>걷기 실천율 향상은 비만율 감소에 기여함이 회귀분석 및 패널(FE) 모델 모두에서 유의하게 확인되었습니다.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1800000"/>
            <a:ext cx="252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B4A"/>
                </a:solidFill>
                <a:latin typeface="맑은 고딕"/>
              </a:rPr>
              <a:t>2. 경로 규명: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0000" y="1800000"/>
            <a:ext cx="810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E32"/>
                </a:solidFill>
                <a:latin typeface="맑은 고딕"/>
              </a:rPr>
              <a:t>단순 걷기 효과를 넘어 '걷기 → 비만 감소 → 만성질환 감소'로 이어지는 간접 경로 메커니즘을 밝혔습니다.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2484000"/>
            <a:ext cx="252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B4A"/>
                </a:solidFill>
                <a:latin typeface="맑은 고딕"/>
              </a:rPr>
              <a:t>3. 지역 격차 심각: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0000" y="2484000"/>
            <a:ext cx="810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E32"/>
                </a:solidFill>
                <a:latin typeface="맑은 고딕"/>
              </a:rPr>
              <a:t>서울(68%) vs 강원(38%) 등 인프라 불평등이 심각하여 차별화된 타겟팅 예산 배분이 요구됩니다.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000" y="3168000"/>
            <a:ext cx="252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B4A"/>
                </a:solidFill>
                <a:latin typeface="맑은 고딕"/>
              </a:rPr>
              <a:t>4. 복합 정책 필수: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0000" y="3168000"/>
            <a:ext cx="810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E32"/>
                </a:solidFill>
                <a:latin typeface="맑은 고딕"/>
              </a:rPr>
              <a:t>걷기 인프라 확충 단독 개입의 한계를 넘어, 금연과 절주를 결합한 시너지 보건 정책 설계가 필수적입니다.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0000" y="4140000"/>
            <a:ext cx="11088000" cy="1620000"/>
          </a:xfrm>
          <a:prstGeom prst="rect">
            <a:avLst/>
          </a:prstGeom>
          <a:solidFill>
            <a:srgbClr val="1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000" y="4428000"/>
            <a:ext cx="10368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"229개 시군구 단위 걷기 실천율과 만성질환의 정량적 관계 연구는
다층적 통계 방법론을 통해 실효성 있는 보건 정책의 핵심 근거를 구축했음을 증명합니다."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32000" y="6552000"/>
            <a:ext cx="86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99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